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046461" y="1625929"/>
            <a:ext cx="5051078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Studo Spatial OS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2046461" y="2317421"/>
            <a:ext cx="505107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The Universal Simulation &amp; Discovery Engine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2046461" y="3024653"/>
            <a:ext cx="57150" cy="5715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7" name="Text 3"/>
          <p:cNvSpPr/>
          <p:nvPr/>
        </p:nvSpPr>
        <p:spPr>
          <a:xfrm>
            <a:off x="2046461" y="2946071"/>
            <a:ext cx="5051078" cy="21431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Vision: Free, accessible, and immersive learning for everyone.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2046461" y="3310403"/>
            <a:ext cx="57150" cy="5715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9" name="Text 5"/>
          <p:cNvSpPr/>
          <p:nvPr/>
        </p:nvSpPr>
        <p:spPr>
          <a:xfrm>
            <a:off x="2046461" y="3231821"/>
            <a:ext cx="5051078" cy="21431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Goal: Revolutionize education through interactive 3D holographic simulations.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428625"/>
            <a:ext cx="742950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The Core Vision - What is Studo?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57250" y="976908"/>
            <a:ext cx="44862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Studo is a groundbreaking platform designed to provide a **free and open-source spatial computing environment** for education and research. It allows users to interact with complex 3D models, perform scientific experiments, and access a vast knowledge base through intuitive gestures and AI-powered assistance.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043613" y="976908"/>
            <a:ext cx="2243138" cy="200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Key Features: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043613" y="1177491"/>
            <a:ext cx="22431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Recursive 3D model exploration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043613" y="1420378"/>
            <a:ext cx="22431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AI-driven analysis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043613" y="1663266"/>
            <a:ext cx="22431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Gesture control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043613" y="1906153"/>
            <a:ext cx="22431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Multi-device accessibility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428625"/>
            <a:ext cx="742950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The Problem We Solve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57250" y="976908"/>
            <a:ext cx="3500438" cy="214313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Challenges in Traditional Learning: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7250" y="1298377"/>
            <a:ext cx="35004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Traditional learning methods often lack interactivity and accessibility, especially for complex scientific and engineering concepts. Expensive software and hardware create significant barriers for students, particularly in underserved communities.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57250" y="2055614"/>
            <a:ext cx="3500438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Barriers: Cost, complexity, lack of engagement.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786313" y="976908"/>
            <a:ext cx="3500438" cy="214313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Studo's Transformative Solution: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86313" y="1298377"/>
            <a:ext cx="35004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Studo aims to break these barriers by offering a powerful, free, and universally accessible learning tool that fosters deep understanding and engagement.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786313" y="1884164"/>
            <a:ext cx="3500438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Studo's Solution: Free, intuitive, immersive, and universally accessible.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428625"/>
            <a:ext cx="742950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Futuristic Architecture at a Glance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085850" y="1280517"/>
            <a:ext cx="844832" cy="2893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This diagram illustrates the core components of Studo Spatial OS, highlighting the seamless integration of 3D visualization, AI processing, and intuitive user interaction.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432" y="976908"/>
            <a:ext cx="6070318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571500"/>
            <a:ext cx="742950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Frontend: The Immersive Experience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128713" y="1262658"/>
            <a:ext cx="3157538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TECHNOLOGY STACK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13" y="1612702"/>
            <a:ext cx="128588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8738" y="1610916"/>
            <a:ext cx="74811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React &amp; Vite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713" y="1844148"/>
            <a:ext cx="128588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28738" y="1842362"/>
            <a:ext cx="86218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Three.js (R3F)</a:t>
            </a:r>
            <a:endParaRPr lang="en-US" sz="9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713" y="2075594"/>
            <a:ext cx="128588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328738" y="2073808"/>
            <a:ext cx="105074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MediaPipe Hands</a:t>
            </a:r>
            <a:endParaRPr lang="en-US" sz="9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713" y="2307041"/>
            <a:ext cx="128588" cy="12858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328738" y="2305255"/>
            <a:ext cx="79094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Tailwind CSS</a:t>
            </a:r>
            <a:endParaRPr lang="en-US" sz="950" dirty="0"/>
          </a:p>
        </p:txBody>
      </p:sp>
      <p:sp>
        <p:nvSpPr>
          <p:cNvPr id="13" name="Text 6"/>
          <p:cNvSpPr/>
          <p:nvPr/>
        </p:nvSpPr>
        <p:spPr>
          <a:xfrm>
            <a:off x="4857750" y="1191220"/>
            <a:ext cx="342900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CORE FUNCTIONALITIES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4857750" y="1496616"/>
            <a:ext cx="3429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3D Holographic UI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4857750" y="1700213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Glassmorphic, neon-accented spatial interface designed for depth and clarity.</a:t>
            </a:r>
            <a:endParaRPr lang="en-US" sz="850" dirty="0"/>
          </a:p>
        </p:txBody>
      </p:sp>
      <p:sp>
        <p:nvSpPr>
          <p:cNvPr id="16" name="Text 9"/>
          <p:cNvSpPr/>
          <p:nvPr/>
        </p:nvSpPr>
        <p:spPr>
          <a:xfrm>
            <a:off x="4857750" y="2257425"/>
            <a:ext cx="3429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Recursive 3D Models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4857750" y="2461022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Deep-zoom exploration of complex structures like the human body or mechanical engines.</a:t>
            </a:r>
            <a:endParaRPr lang="en-US" sz="850" dirty="0"/>
          </a:p>
        </p:txBody>
      </p:sp>
      <p:sp>
        <p:nvSpPr>
          <p:cNvPr id="18" name="Text 11"/>
          <p:cNvSpPr/>
          <p:nvPr/>
        </p:nvSpPr>
        <p:spPr>
          <a:xfrm>
            <a:off x="4857750" y="3018234"/>
            <a:ext cx="3429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Gesture Control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4857750" y="3221831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Natural hand movements (pinch, rotate, explode) for intuitive model manipulation.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571500"/>
            <a:ext cx="742950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Backend: The Intelligent Core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57250" y="1119783"/>
            <a:ext cx="664341" cy="260747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Text 2"/>
          <p:cNvSpPr/>
          <p:nvPr/>
        </p:nvSpPr>
        <p:spPr>
          <a:xfrm>
            <a:off x="857250" y="1119783"/>
            <a:ext cx="664341" cy="260747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Python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624785" y="1119783"/>
            <a:ext cx="707371" cy="260747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7" name="Text 4"/>
          <p:cNvSpPr/>
          <p:nvPr/>
        </p:nvSpPr>
        <p:spPr>
          <a:xfrm>
            <a:off x="1624785" y="1119783"/>
            <a:ext cx="707371" cy="260747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FastAPI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435349" y="1119783"/>
            <a:ext cx="800295" cy="260747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9" name="Text 6"/>
          <p:cNvSpPr/>
          <p:nvPr/>
        </p:nvSpPr>
        <p:spPr>
          <a:xfrm>
            <a:off x="2435349" y="1119783"/>
            <a:ext cx="800295" cy="260747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Socket.io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7275" y="1666280"/>
            <a:ext cx="3300413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Real-time Communication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57275" y="1885950"/>
            <a:ext cx="33004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Bidirectional data flow between frontend and backend for seamless, low-latency interaction during simulations.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57275" y="2443163"/>
            <a:ext cx="3300413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AI Brain Orchestration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57275" y="2662833"/>
            <a:ext cx="33004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Manages requests to the local LLM, coordinating knowledge retrieval and scientific analysis.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57275" y="3220045"/>
            <a:ext cx="3300413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Simulation Engine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57275" y="3439716"/>
            <a:ext cx="33004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Processes physics and mathematical calculations to predict experimental outcomes in real-time.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86313" y="1119783"/>
            <a:ext cx="3500438" cy="2857500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1B5E2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104" y="1823442"/>
            <a:ext cx="342900" cy="3429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77452" y="2273498"/>
            <a:ext cx="61620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74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Logic</a:t>
            </a:r>
            <a:endParaRPr lang="en-US" sz="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490" y="1823442"/>
            <a:ext cx="300038" cy="3429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79406" y="2273498"/>
            <a:ext cx="61620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74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Scrapers</a:t>
            </a:r>
            <a:endParaRPr lang="en-US" sz="8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104" y="2691408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77452" y="3141464"/>
            <a:ext cx="61620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74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Processing</a:t>
            </a:r>
            <a:endParaRPr lang="en-US" sz="8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196" y="2691408"/>
            <a:ext cx="428625" cy="3429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79406" y="3141464"/>
            <a:ext cx="61620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74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Sync</a:t>
            </a:r>
            <a:endParaRPr lang="en-US" sz="800" dirty="0"/>
          </a:p>
        </p:txBody>
      </p:sp>
      <p:sp>
        <p:nvSpPr>
          <p:cNvPr id="25" name="Text 18"/>
          <p:cNvSpPr/>
          <p:nvPr/>
        </p:nvSpPr>
        <p:spPr>
          <a:xfrm>
            <a:off x="4786313" y="4120158"/>
            <a:ext cx="350043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374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backend acts as the central nervous system, connecting user gestures to scientific knowledge.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428625"/>
            <a:ext cx="742950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The Local AI Brain (ARIA)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57250" y="762595"/>
            <a:ext cx="74295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7043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No API Keys, No Limits, Total Privacy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28713" y="1284089"/>
            <a:ext cx="2634621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Core Engine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28713" y="1655564"/>
            <a:ext cx="157589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Ollama + Llama 3 / Mistral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8713" y="1973796"/>
            <a:ext cx="2634621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running high-performance Large Language Models locally, Studo eliminates dependency on expensive cloud APIs, ensuring the platform remains free for every student forever.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334833" y="1212652"/>
            <a:ext cx="3951917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Contextual Understanding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334833" y="1418034"/>
            <a:ext cx="39519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ARIA processes user queries with deep awareness of the active 3D model's metadata and spatial state.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334833" y="1939528"/>
            <a:ext cx="3951917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Scientific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334833" y="2144911"/>
            <a:ext cx="39519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Performs real-time reasoning based on physics, chemistry, and biology principles to predict simulation outcomes.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334833" y="2666405"/>
            <a:ext cx="3951917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Knowledge Retrieval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334833" y="2871788"/>
            <a:ext cx="39519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Automated scraping of ArXiv and scientific databases to provide evidence-based answers and summaries.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334833" y="3393281"/>
            <a:ext cx="3951917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Voice Interaction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334833" y="3598664"/>
            <a:ext cx="39519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Integrated natural language processing for hands-free control and interactive verbal guidance.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57250" y="4741664"/>
            <a:ext cx="3222585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1B5E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*Designed for high-performance inference on consumer-grade hardware.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428625"/>
            <a:ext cx="74295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3D Model &amp; Image Generation: The "Murtikar" Approach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57250" y="988684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The "Murtikar" (Sculptor) approach focuses on high-fidelity 3D generation that mimics the precision of a master craftsman. By leveraging state-of-the-art generative AI, Studo creates detailed 3D meshes from simple text or 2D references.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857250" y="1845934"/>
            <a:ext cx="3429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This allows for </a:t>
            </a:r>
            <a:r>
              <a:rPr lang="en-US" sz="8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Dynamic Model Creation</a:t>
            </a:r>
            <a:r>
              <a:rPr lang="en-US" sz="8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, where missing </a:t>
            </a:r>
            <a:r>
              <a:rPr lang="en-US" sz="8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components or experimental variations are generated on-the-fly, </a:t>
            </a:r>
            <a:r>
              <a:rPr lang="en-US" sz="8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providing an unparalleled visual learning experience.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857250" y="2646034"/>
            <a:ext cx="3429000" cy="857250"/>
          </a:xfrm>
          <a:prstGeom prst="rect">
            <a:avLst/>
          </a:prstGeom>
          <a:solidFill>
            <a:srgbClr val="1B5E20">
              <a:alpha val="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00125" y="2788909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1B5E20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"Transforming abstract scientific concepts into tangible, interactive 3D structures for deep exploration."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129213" y="1060121"/>
            <a:ext cx="3157538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Stable Diffusion XL (SDXL)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129213" y="1279792"/>
            <a:ext cx="31575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Generates high-resolution, photorealistic 2D textures and reference images for the 3D pipeline.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129213" y="1837004"/>
            <a:ext cx="3157538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Gaussian Splatting &amp; Zero-1-to-3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129213" y="2056674"/>
            <a:ext cx="31575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Advanced techniques to reconstruct 3D geometry from 2D views, enabling rapid asset creation.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129213" y="2613887"/>
            <a:ext cx="3157538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Visual Learning Impact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29213" y="2833557"/>
            <a:ext cx="31575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Provides rich, accurate visual representations that help students visualize the invisible.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571500"/>
            <a:ext cx="742950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Audio &amp; Voice: Natural Interaction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1165324"/>
            <a:ext cx="178594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71600" y="1155502"/>
            <a:ext cx="131777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Natural Voice Output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085850" y="1389459"/>
            <a:ext cx="3200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AI-generated responses are converted into high-quality, human-like speech, providing an immersive and interactive learning experience.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2235101"/>
            <a:ext cx="107156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00163" y="2225278"/>
            <a:ext cx="1293772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Accurate Voice Input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1085850" y="2459236"/>
            <a:ext cx="3200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Users can control the spatial environment and query the AI brain using natural voice commands, enabling a truly hands-free experience.</a:t>
            </a:r>
            <a:endParaRPr lang="en-US" sz="850" dirty="0"/>
          </a:p>
        </p:txBody>
      </p:sp>
      <p:sp>
        <p:nvSpPr>
          <p:cNvPr id="10" name="Shape 5"/>
          <p:cNvSpPr/>
          <p:nvPr/>
        </p:nvSpPr>
        <p:spPr>
          <a:xfrm>
            <a:off x="4857750" y="1119783"/>
            <a:ext cx="3429000" cy="2857500"/>
          </a:xfrm>
          <a:prstGeom prst="rect">
            <a:avLst/>
          </a:prstGeom>
          <a:solidFill>
            <a:srgbClr val="FFFFFF">
              <a:alpha val="40000"/>
            </a:srgbClr>
          </a:solidFill>
          <a:ln w="9144">
            <a:solidFill>
              <a:srgbClr val="1B5E2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072063" y="1334095"/>
            <a:ext cx="3000375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The Technology Stack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3" y="1685925"/>
            <a:ext cx="114300" cy="1143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72088" y="1657350"/>
            <a:ext cx="2800350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Piper TTS:</a:t>
            </a: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A fast, local text-to-speech engine that </a:t>
            </a: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ensures high-quality audio without relying on cloud </a:t>
            </a: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services.</a:t>
            </a:r>
            <a:endParaRPr lang="en-US" sz="8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2063" y="2225278"/>
            <a:ext cx="114300" cy="114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72088" y="2196703"/>
            <a:ext cx="280035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Speech API:</a:t>
            </a: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Utilizes native browser capabilities </a:t>
            </a: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for robust speech recognition and basic synthesis.</a:t>
            </a:r>
            <a:endParaRPr lang="en-US" sz="8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063" y="2632472"/>
            <a:ext cx="114300" cy="1143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272088" y="2603897"/>
            <a:ext cx="2800350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Offline Capability:</a:t>
            </a: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Designed to function without an </a:t>
            </a: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active internet connection, ensuring accessibility in all </a:t>
            </a: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environments.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571500"/>
            <a:ext cx="742950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Multi-Device &amp; Accessibility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085850" y="1191220"/>
            <a:ext cx="334327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PWA (Progressive Web App)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85850" y="1439466"/>
            <a:ext cx="33432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single, unified codebase that provides a native-like experience across Windows, Mac, Linux, Android, and iOS without requiring separate app store downloads.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943475" y="1191220"/>
            <a:ext cx="334327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Docker &amp; Docker Compose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943475" y="1439466"/>
            <a:ext cx="33432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Simplified deployment with a one-command setup. Docker ensures that the entire Studo environment—including the Local AI—runs consistently on any machine.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5850" y="2762845"/>
            <a:ext cx="334327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Lightweight Frontend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85850" y="3011091"/>
            <a:ext cx="33432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Optimized Three.js rendering and efficient state management ensure smooth 3D performance even on low-end devices and older smartphones.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943475" y="2762845"/>
            <a:ext cx="334327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Free &amp; Open-Source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943475" y="3011091"/>
            <a:ext cx="33432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Eliminating financial barriers by removing subscription fees and paid API dependencies. Truly accessible to students and researchers worldwide.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571500"/>
            <a:ext cx="742950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Security, Debugging &amp; Future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57250" y="1119783"/>
            <a:ext cx="3500438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SECURITY &amp; PRIVACY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35168"/>
            <a:ext cx="142875" cy="114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85850" y="1389459"/>
            <a:ext cx="221718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Local-first data processing for 100% privacy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698036"/>
            <a:ext cx="142875" cy="1143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85850" y="1652327"/>
            <a:ext cx="236960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CORS &amp; Rate Limiting to prevent server abuse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960904"/>
            <a:ext cx="142875" cy="1143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85850" y="1915195"/>
            <a:ext cx="213486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 external API dependency for core logic</a:t>
            </a:r>
            <a:endParaRPr lang="en-US" sz="850" dirty="0"/>
          </a:p>
        </p:txBody>
      </p:sp>
      <p:sp>
        <p:nvSpPr>
          <p:cNvPr id="11" name="Text 5"/>
          <p:cNvSpPr/>
          <p:nvPr/>
        </p:nvSpPr>
        <p:spPr>
          <a:xfrm>
            <a:off x="4786313" y="1119783"/>
            <a:ext cx="3500438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STABILITY &amp; TOOLS</a:t>
            </a:r>
            <a:endParaRPr lang="en-US" sz="10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435168"/>
            <a:ext cx="142875" cy="1143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014913" y="1389459"/>
            <a:ext cx="224241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Sentry integration for real-time error tracking</a:t>
            </a:r>
            <a:endParaRPr lang="en-US" sz="8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1698036"/>
            <a:ext cx="142875" cy="1143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014913" y="1652327"/>
            <a:ext cx="239912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Custom MCP for seamless AI tool orchestration</a:t>
            </a:r>
            <a:endParaRPr lang="en-US" sz="8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1960904"/>
            <a:ext cx="142875" cy="1143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014913" y="1915195"/>
            <a:ext cx="240147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Comprehensive logging for simulation accuracy</a:t>
            </a:r>
            <a:endParaRPr lang="en-US" sz="850" dirty="0"/>
          </a:p>
        </p:txBody>
      </p:sp>
      <p:sp>
        <p:nvSpPr>
          <p:cNvPr id="18" name="Text 9"/>
          <p:cNvSpPr/>
          <p:nvPr/>
        </p:nvSpPr>
        <p:spPr>
          <a:xfrm>
            <a:off x="1128713" y="2678125"/>
            <a:ext cx="7158038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THE FUTURE OF STUDO</a:t>
            </a:r>
            <a:endParaRPr lang="en-US" sz="1000" dirty="0"/>
          </a:p>
        </p:txBody>
      </p:sp>
      <p:sp>
        <p:nvSpPr>
          <p:cNvPr id="19" name="Text 10"/>
          <p:cNvSpPr/>
          <p:nvPr/>
        </p:nvSpPr>
        <p:spPr>
          <a:xfrm>
            <a:off x="1128713" y="2983520"/>
            <a:ext cx="22431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Collaborative Labs</a:t>
            </a:r>
            <a:endParaRPr lang="en-US" sz="750" dirty="0"/>
          </a:p>
        </p:txBody>
      </p:sp>
      <p:sp>
        <p:nvSpPr>
          <p:cNvPr id="20" name="Text 11"/>
          <p:cNvSpPr/>
          <p:nvPr/>
        </p:nvSpPr>
        <p:spPr>
          <a:xfrm>
            <a:off x="1128713" y="3199619"/>
            <a:ext cx="163776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Multi-user spatial environments for</a:t>
            </a:r>
            <a:endParaRPr lang="en-US" sz="800" dirty="0"/>
          </a:p>
        </p:txBody>
      </p:sp>
      <p:sp>
        <p:nvSpPr>
          <p:cNvPr id="21" name="Text 12"/>
          <p:cNvSpPr/>
          <p:nvPr/>
        </p:nvSpPr>
        <p:spPr>
          <a:xfrm>
            <a:off x="1128713" y="3360353"/>
            <a:ext cx="2031281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synchronized group learning and research.</a:t>
            </a:r>
            <a:endParaRPr lang="en-US" sz="800" dirty="0"/>
          </a:p>
        </p:txBody>
      </p:sp>
      <p:sp>
        <p:nvSpPr>
          <p:cNvPr id="22" name="Text 13"/>
          <p:cNvSpPr/>
          <p:nvPr/>
        </p:nvSpPr>
        <p:spPr>
          <a:xfrm>
            <a:off x="3586163" y="2983520"/>
            <a:ext cx="22431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Advanced Physics</a:t>
            </a:r>
            <a:endParaRPr lang="en-US" sz="750" dirty="0"/>
          </a:p>
        </p:txBody>
      </p:sp>
      <p:sp>
        <p:nvSpPr>
          <p:cNvPr id="23" name="Text 14"/>
          <p:cNvSpPr/>
          <p:nvPr/>
        </p:nvSpPr>
        <p:spPr>
          <a:xfrm>
            <a:off x="3586163" y="3199619"/>
            <a:ext cx="211457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 of high-fidelity fluid dynamics and</a:t>
            </a:r>
            <a:endParaRPr lang="en-US" sz="800" dirty="0"/>
          </a:p>
        </p:txBody>
      </p:sp>
      <p:sp>
        <p:nvSpPr>
          <p:cNvPr id="24" name="Text 15"/>
          <p:cNvSpPr/>
          <p:nvPr/>
        </p:nvSpPr>
        <p:spPr>
          <a:xfrm>
            <a:off x="3586163" y="3360353"/>
            <a:ext cx="1429364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chemical reaction simulations.</a:t>
            </a:r>
            <a:endParaRPr lang="en-US" sz="800" dirty="0"/>
          </a:p>
        </p:txBody>
      </p:sp>
      <p:sp>
        <p:nvSpPr>
          <p:cNvPr id="25" name="Text 16"/>
          <p:cNvSpPr/>
          <p:nvPr/>
        </p:nvSpPr>
        <p:spPr>
          <a:xfrm>
            <a:off x="6043613" y="2983520"/>
            <a:ext cx="22431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Global Integration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6043613" y="3199619"/>
            <a:ext cx="209630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 sync with major educational platforms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6043613" y="3360353"/>
            <a:ext cx="123891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research repositories.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41208" y="1311604"/>
            <a:ext cx="6061583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1B5E2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Join the Revolution!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541208" y="2003096"/>
            <a:ext cx="606158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Empowering the next generation of learners and innovators.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2766138" y="2846059"/>
            <a:ext cx="388318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000" b="1" dirty="0">
                <a:solidFill>
                  <a:srgbClr val="1B5E20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GitHub:</a:t>
            </a:r>
            <a:r>
              <a:rPr lang="en-US" sz="10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 github.com/Minato95-ayu/3d-holograph-study-center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766138" y="3174671"/>
            <a:ext cx="388318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000" b="1" dirty="0">
                <a:solidFill>
                  <a:srgbClr val="1B5E20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Contact:</a:t>
            </a:r>
            <a:r>
              <a:rPr lang="en-US" sz="10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 ayushkaushik@studo.io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66138" y="3503284"/>
            <a:ext cx="388318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000" b="1" dirty="0">
                <a:solidFill>
                  <a:srgbClr val="1B5E20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Website:</a:t>
            </a:r>
            <a:r>
              <a:rPr lang="en-US" sz="1050" dirty="0">
                <a:solidFill>
                  <a:srgbClr val="37474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 www.studo.io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2026-05-17T19:05:32Z</dcterms:created>
  <dcterms:modified xsi:type="dcterms:W3CDTF">2026-05-17T19:05:32Z</dcterms:modified>
</cp:coreProperties>
</file>